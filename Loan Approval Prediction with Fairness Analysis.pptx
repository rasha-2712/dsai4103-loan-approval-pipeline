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Barlow Condensed Bold" charset="1" panose="00000806000000000000"/>
      <p:regular r:id="rId18"/>
    </p:embeddedFont>
    <p:embeddedFont>
      <p:font typeface="Poppins Bold Italics" charset="1" panose="00000800000000000000"/>
      <p:regular r:id="rId19"/>
    </p:embeddedFont>
    <p:embeddedFont>
      <p:font typeface="Canva Sans Medium" charset="1" panose="020B0603030501040103"/>
      <p:regular r:id="rId20"/>
    </p:embeddedFont>
    <p:embeddedFont>
      <p:font typeface="Poppins Medium" charset="1" panose="00000600000000000000"/>
      <p:regular r:id="rId21"/>
    </p:embeddedFont>
    <p:embeddedFont>
      <p:font typeface="Poppins" charset="1" panose="00000500000000000000"/>
      <p:regular r:id="rId22"/>
    </p:embeddedFont>
    <p:embeddedFont>
      <p:font typeface="Poppins Medium Italics" charset="1" panose="000006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1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979541" y="4461737"/>
            <a:ext cx="4588162" cy="2436472"/>
          </a:xfrm>
          <a:custGeom>
            <a:avLst/>
            <a:gdLst/>
            <a:ahLst/>
            <a:cxnLst/>
            <a:rect r="r" b="b" t="t" l="l"/>
            <a:pathLst>
              <a:path h="2436472" w="4588162">
                <a:moveTo>
                  <a:pt x="0" y="0"/>
                </a:moveTo>
                <a:lnTo>
                  <a:pt x="4588162" y="0"/>
                </a:lnTo>
                <a:lnTo>
                  <a:pt x="4588162" y="2436472"/>
                </a:lnTo>
                <a:lnTo>
                  <a:pt x="0" y="24364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1657409" y="1847978"/>
            <a:ext cx="3233413" cy="3190078"/>
          </a:xfrm>
          <a:custGeom>
            <a:avLst/>
            <a:gdLst/>
            <a:ahLst/>
            <a:cxnLst/>
            <a:rect r="r" b="b" t="t" l="l"/>
            <a:pathLst>
              <a:path h="3190078" w="3233413">
                <a:moveTo>
                  <a:pt x="3233413" y="0"/>
                </a:moveTo>
                <a:lnTo>
                  <a:pt x="0" y="0"/>
                </a:lnTo>
                <a:lnTo>
                  <a:pt x="0" y="3190078"/>
                </a:lnTo>
                <a:lnTo>
                  <a:pt x="3233413" y="3190078"/>
                </a:lnTo>
                <a:lnTo>
                  <a:pt x="323341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969366" y="582309"/>
            <a:ext cx="4088101" cy="9704691"/>
          </a:xfrm>
          <a:custGeom>
            <a:avLst/>
            <a:gdLst/>
            <a:ahLst/>
            <a:cxnLst/>
            <a:rect r="r" b="b" t="t" l="l"/>
            <a:pathLst>
              <a:path h="9704691" w="4088101">
                <a:moveTo>
                  <a:pt x="0" y="0"/>
                </a:moveTo>
                <a:lnTo>
                  <a:pt x="4088101" y="0"/>
                </a:lnTo>
                <a:lnTo>
                  <a:pt x="4088101" y="9704691"/>
                </a:lnTo>
                <a:lnTo>
                  <a:pt x="0" y="97046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982033">
            <a:off x="15555832" y="2593392"/>
            <a:ext cx="2446434" cy="2379795"/>
          </a:xfrm>
          <a:custGeom>
            <a:avLst/>
            <a:gdLst/>
            <a:ahLst/>
            <a:cxnLst/>
            <a:rect r="r" b="b" t="t" l="l"/>
            <a:pathLst>
              <a:path h="2379795" w="2446434">
                <a:moveTo>
                  <a:pt x="0" y="0"/>
                </a:moveTo>
                <a:lnTo>
                  <a:pt x="2446434" y="0"/>
                </a:lnTo>
                <a:lnTo>
                  <a:pt x="2446434" y="2379795"/>
                </a:lnTo>
                <a:lnTo>
                  <a:pt x="0" y="237979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654564" y="219048"/>
            <a:ext cx="1108113" cy="901148"/>
          </a:xfrm>
          <a:custGeom>
            <a:avLst/>
            <a:gdLst/>
            <a:ahLst/>
            <a:cxnLst/>
            <a:rect r="r" b="b" t="t" l="l"/>
            <a:pathLst>
              <a:path h="901148" w="1108113">
                <a:moveTo>
                  <a:pt x="0" y="0"/>
                </a:moveTo>
                <a:lnTo>
                  <a:pt x="1108112" y="0"/>
                </a:lnTo>
                <a:lnTo>
                  <a:pt x="1108112" y="901147"/>
                </a:lnTo>
                <a:lnTo>
                  <a:pt x="0" y="90114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3698949" y="-165883"/>
            <a:ext cx="8064772" cy="10618766"/>
            <a:chOff x="0" y="0"/>
            <a:chExt cx="2124055" cy="279671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24055" cy="2796712"/>
            </a:xfrm>
            <a:custGeom>
              <a:avLst/>
              <a:gdLst/>
              <a:ahLst/>
              <a:cxnLst/>
              <a:rect r="r" b="b" t="t" l="l"/>
              <a:pathLst>
                <a:path h="2796712" w="2124055">
                  <a:moveTo>
                    <a:pt x="0" y="0"/>
                  </a:moveTo>
                  <a:lnTo>
                    <a:pt x="2124055" y="0"/>
                  </a:lnTo>
                  <a:lnTo>
                    <a:pt x="2124055" y="2796712"/>
                  </a:lnTo>
                  <a:lnTo>
                    <a:pt x="0" y="2796712"/>
                  </a:lnTo>
                  <a:close/>
                </a:path>
              </a:pathLst>
            </a:custGeom>
            <a:gradFill rotWithShape="true">
              <a:gsLst>
                <a:gs pos="0">
                  <a:srgbClr val="BE95C4">
                    <a:alpha val="100000"/>
                  </a:srgbClr>
                </a:gs>
                <a:gs pos="100000">
                  <a:srgbClr val="BE95C4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2124055" cy="28633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1737074">
            <a:off x="16495378" y="344028"/>
            <a:ext cx="1474508" cy="1154089"/>
          </a:xfrm>
          <a:custGeom>
            <a:avLst/>
            <a:gdLst/>
            <a:ahLst/>
            <a:cxnLst/>
            <a:rect r="r" b="b" t="t" l="l"/>
            <a:pathLst>
              <a:path h="1154089" w="1474508">
                <a:moveTo>
                  <a:pt x="0" y="0"/>
                </a:moveTo>
                <a:lnTo>
                  <a:pt x="1474508" y="0"/>
                </a:lnTo>
                <a:lnTo>
                  <a:pt x="1474508" y="1154089"/>
                </a:lnTo>
                <a:lnTo>
                  <a:pt x="0" y="115408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36028" y="1545292"/>
            <a:ext cx="13347798" cy="3128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54"/>
              </a:lnSpc>
            </a:pPr>
            <a:r>
              <a:rPr lang="en-US" b="true" sz="8074">
                <a:solidFill>
                  <a:srgbClr val="28284C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LOAN APPROVAL PREDICTION WITH FAIRNESS ANALYSIS</a:t>
            </a:r>
          </a:p>
          <a:p>
            <a:pPr algn="ctr">
              <a:lnSpc>
                <a:spcPts val="8154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983409" y="4347437"/>
            <a:ext cx="11290707" cy="2155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41"/>
              </a:lnSpc>
            </a:pPr>
            <a:r>
              <a:rPr lang="en-US" b="true" sz="4029" i="true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Autom</a:t>
            </a:r>
            <a:r>
              <a:rPr lang="en-US" b="true" sz="4029" i="true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ating Loan Decisions Using XGBoost + SHAP + Fairlearn</a:t>
            </a:r>
          </a:p>
          <a:p>
            <a:pPr algn="ctr">
              <a:lnSpc>
                <a:spcPts val="5641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707674" y="7596907"/>
            <a:ext cx="9842177" cy="800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2"/>
              </a:lnSpc>
            </a:pPr>
            <a:r>
              <a:rPr lang="en-US" b="true" sz="4494" i="true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Presented by: Rasha Fadlalla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2980282" y="-165883"/>
            <a:ext cx="8064772" cy="10618766"/>
            <a:chOff x="0" y="0"/>
            <a:chExt cx="2124055" cy="27967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24055" cy="2796712"/>
            </a:xfrm>
            <a:custGeom>
              <a:avLst/>
              <a:gdLst/>
              <a:ahLst/>
              <a:cxnLst/>
              <a:rect r="r" b="b" t="t" l="l"/>
              <a:pathLst>
                <a:path h="2796712" w="2124055">
                  <a:moveTo>
                    <a:pt x="0" y="0"/>
                  </a:moveTo>
                  <a:lnTo>
                    <a:pt x="2124055" y="0"/>
                  </a:lnTo>
                  <a:lnTo>
                    <a:pt x="2124055" y="2796712"/>
                  </a:lnTo>
                  <a:lnTo>
                    <a:pt x="0" y="2796712"/>
                  </a:lnTo>
                  <a:close/>
                </a:path>
              </a:pathLst>
            </a:custGeom>
            <a:gradFill rotWithShape="true">
              <a:gsLst>
                <a:gs pos="0">
                  <a:srgbClr val="BE95C4">
                    <a:alpha val="100000"/>
                  </a:srgbClr>
                </a:gs>
                <a:gs pos="100000">
                  <a:srgbClr val="BE95C4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124055" cy="28633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576631">
            <a:off x="2850219" y="7217764"/>
            <a:ext cx="2164052" cy="1450527"/>
          </a:xfrm>
          <a:custGeom>
            <a:avLst/>
            <a:gdLst/>
            <a:ahLst/>
            <a:cxnLst/>
            <a:rect r="r" b="b" t="t" l="l"/>
            <a:pathLst>
              <a:path h="1450527" w="2164052">
                <a:moveTo>
                  <a:pt x="0" y="0"/>
                </a:moveTo>
                <a:lnTo>
                  <a:pt x="2164052" y="0"/>
                </a:lnTo>
                <a:lnTo>
                  <a:pt x="2164052" y="1450528"/>
                </a:lnTo>
                <a:lnTo>
                  <a:pt x="0" y="14505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982033">
            <a:off x="180119" y="6075105"/>
            <a:ext cx="1542163" cy="1500155"/>
          </a:xfrm>
          <a:custGeom>
            <a:avLst/>
            <a:gdLst/>
            <a:ahLst/>
            <a:cxnLst/>
            <a:rect r="r" b="b" t="t" l="l"/>
            <a:pathLst>
              <a:path h="1500155" w="1542163">
                <a:moveTo>
                  <a:pt x="1542162" y="0"/>
                </a:moveTo>
                <a:lnTo>
                  <a:pt x="0" y="0"/>
                </a:lnTo>
                <a:lnTo>
                  <a:pt x="0" y="1500155"/>
                </a:lnTo>
                <a:lnTo>
                  <a:pt x="1542162" y="1500155"/>
                </a:lnTo>
                <a:lnTo>
                  <a:pt x="154216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51200" y="4997057"/>
            <a:ext cx="4402337" cy="5256521"/>
          </a:xfrm>
          <a:custGeom>
            <a:avLst/>
            <a:gdLst/>
            <a:ahLst/>
            <a:cxnLst/>
            <a:rect r="r" b="b" t="t" l="l"/>
            <a:pathLst>
              <a:path h="5256521" w="4402337">
                <a:moveTo>
                  <a:pt x="0" y="0"/>
                </a:moveTo>
                <a:lnTo>
                  <a:pt x="4402337" y="0"/>
                </a:lnTo>
                <a:lnTo>
                  <a:pt x="4402337" y="5256521"/>
                </a:lnTo>
                <a:lnTo>
                  <a:pt x="0" y="52565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565571">
            <a:off x="1551622" y="7102751"/>
            <a:ext cx="1684154" cy="1821070"/>
          </a:xfrm>
          <a:custGeom>
            <a:avLst/>
            <a:gdLst/>
            <a:ahLst/>
            <a:cxnLst/>
            <a:rect r="r" b="b" t="t" l="l"/>
            <a:pathLst>
              <a:path h="1821070" w="1684154">
                <a:moveTo>
                  <a:pt x="0" y="0"/>
                </a:moveTo>
                <a:lnTo>
                  <a:pt x="1684155" y="0"/>
                </a:lnTo>
                <a:lnTo>
                  <a:pt x="1684155" y="1821070"/>
                </a:lnTo>
                <a:lnTo>
                  <a:pt x="0" y="182107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64281" y="1948055"/>
            <a:ext cx="17159438" cy="2673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91"/>
              </a:lnSpc>
              <a:spcBef>
                <a:spcPct val="0"/>
              </a:spcBef>
            </a:pPr>
            <a:r>
              <a:rPr lang="en-US" b="true" sz="3850">
                <a:solidFill>
                  <a:srgbClr val="5E548E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Finance Company Challenge: </a:t>
            </a:r>
          </a:p>
          <a:p>
            <a:pPr algn="just">
              <a:lnSpc>
                <a:spcPts val="5391"/>
              </a:lnSpc>
              <a:spcBef>
                <a:spcPct val="0"/>
              </a:spcBef>
            </a:pPr>
            <a:r>
              <a:rPr lang="en-US" b="true" sz="3850">
                <a:solidFill>
                  <a:srgbClr val="5E548E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Automate loan approval to speed up decisions, reduce risk, and ensure fairness across gender and property area.</a:t>
            </a:r>
          </a:p>
          <a:p>
            <a:pPr algn="just">
              <a:lnSpc>
                <a:spcPts val="5391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2348387" y="541534"/>
            <a:ext cx="13680441" cy="109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12"/>
              </a:lnSpc>
            </a:pPr>
            <a:r>
              <a:rPr lang="en-US" b="true" sz="8069">
                <a:solidFill>
                  <a:srgbClr val="00000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B</a:t>
            </a:r>
            <a:r>
              <a:rPr lang="en-US" b="true" sz="8069">
                <a:solidFill>
                  <a:srgbClr val="00000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USINESS PROBLEM &amp; OBJECTIVES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447805" y="4545818"/>
            <a:ext cx="12275914" cy="5728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77160" indent="-438580" lvl="1">
              <a:lnSpc>
                <a:spcPts val="568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4062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Obje</a:t>
            </a:r>
            <a:r>
              <a:rPr lang="en-US" b="true" sz="4062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ctives:</a:t>
            </a:r>
          </a:p>
          <a:p>
            <a:pPr algn="just" marL="1754320" indent="-584773" lvl="2">
              <a:lnSpc>
                <a:spcPts val="5687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4062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Identify key factors driving approval</a:t>
            </a:r>
          </a:p>
          <a:p>
            <a:pPr algn="just" marL="1754320" indent="-584773" lvl="2">
              <a:lnSpc>
                <a:spcPts val="5687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4062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Build an accurate ensemble model</a:t>
            </a:r>
          </a:p>
          <a:p>
            <a:pPr algn="just" marL="1754320" indent="-584773" lvl="2">
              <a:lnSpc>
                <a:spcPts val="5687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4062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Provide SHAP explainability</a:t>
            </a:r>
          </a:p>
          <a:p>
            <a:pPr algn="just" marL="1754320" indent="-584773" lvl="2">
              <a:lnSpc>
                <a:spcPts val="5687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4062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Conduct bias/fairness analysis</a:t>
            </a:r>
          </a:p>
          <a:p>
            <a:pPr algn="just" marL="1754320" indent="-584773" lvl="2">
              <a:lnSpc>
                <a:spcPts val="5687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4062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Cluster applicants into risk segments</a:t>
            </a:r>
          </a:p>
          <a:p>
            <a:pPr algn="just" marL="1754320" indent="-584773" lvl="2">
              <a:lnSpc>
                <a:spcPts val="5687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4062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Deliver an interactive Power BI dashboard</a:t>
            </a:r>
          </a:p>
          <a:p>
            <a:pPr algn="just">
              <a:lnSpc>
                <a:spcPts val="568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5111614" y="2214348"/>
            <a:ext cx="8064772" cy="18288000"/>
            <a:chOff x="0" y="0"/>
            <a:chExt cx="2124055" cy="4816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24055" cy="4816592"/>
            </a:xfrm>
            <a:custGeom>
              <a:avLst/>
              <a:gdLst/>
              <a:ahLst/>
              <a:cxnLst/>
              <a:rect r="r" b="b" t="t" l="l"/>
              <a:pathLst>
                <a:path h="4816592" w="2124055">
                  <a:moveTo>
                    <a:pt x="0" y="0"/>
                  </a:moveTo>
                  <a:lnTo>
                    <a:pt x="2124055" y="0"/>
                  </a:lnTo>
                  <a:lnTo>
                    <a:pt x="2124055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true">
              <a:gsLst>
                <a:gs pos="0">
                  <a:srgbClr val="BE95C4">
                    <a:alpha val="100000"/>
                  </a:srgbClr>
                </a:gs>
                <a:gs pos="100000">
                  <a:srgbClr val="BE95C4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124055" cy="48832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642698" y="541534"/>
            <a:ext cx="13002604" cy="109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12"/>
              </a:lnSpc>
            </a:pPr>
            <a:r>
              <a:rPr lang="en-US" b="true" sz="8069">
                <a:solidFill>
                  <a:srgbClr val="00000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DATASET ACQUI</a:t>
            </a:r>
            <a:r>
              <a:rPr lang="en-US" b="true" sz="8069">
                <a:solidFill>
                  <a:srgbClr val="00000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SITION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667643"/>
            <a:ext cx="14251809" cy="4041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3967" indent="-311983" lvl="1">
              <a:lnSpc>
                <a:spcPts val="404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9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Source: Analytics V</a:t>
            </a:r>
            <a:r>
              <a:rPr lang="en-US" b="true" sz="289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idhya – Loan Eligibility Prediction</a:t>
            </a:r>
          </a:p>
          <a:p>
            <a:pPr algn="l" marL="623967" indent="-311983" lvl="1">
              <a:lnSpc>
                <a:spcPts val="404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9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3 Files Used:</a:t>
            </a:r>
          </a:p>
          <a:p>
            <a:pPr algn="l" marL="1247933" indent="-415978" lvl="2">
              <a:lnSpc>
                <a:spcPts val="4046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89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train_ctrUa4K.csv (614 rows × 13 columns)</a:t>
            </a:r>
          </a:p>
          <a:p>
            <a:pPr algn="l" marL="1247933" indent="-415978" lvl="2">
              <a:lnSpc>
                <a:spcPts val="4046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89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test_lAUu6dG.csv (367 rows × 12 columns)</a:t>
            </a:r>
          </a:p>
          <a:p>
            <a:pPr algn="l" marL="1247933" indent="-415978" lvl="2">
              <a:lnSpc>
                <a:spcPts val="4046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89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sample_submission_49d68Cx.csv</a:t>
            </a:r>
          </a:p>
          <a:p>
            <a:pPr algn="l" marL="623967" indent="-311983" lvl="1">
              <a:lnSpc>
                <a:spcPts val="404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9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Total columns across files: 27+ (exceeds requirement)</a:t>
            </a:r>
          </a:p>
          <a:p>
            <a:pPr algn="l" marL="623967" indent="-311983" lvl="1">
              <a:lnSpc>
                <a:spcPts val="404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9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Key Features: ApplicantIncome, Credit_History, Property_Area, Gender</a:t>
            </a:r>
          </a:p>
          <a:p>
            <a:pPr algn="l">
              <a:lnSpc>
                <a:spcPts val="404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5111614" y="2214348"/>
            <a:ext cx="8064772" cy="18288000"/>
            <a:chOff x="0" y="0"/>
            <a:chExt cx="2124055" cy="4816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24055" cy="4816592"/>
            </a:xfrm>
            <a:custGeom>
              <a:avLst/>
              <a:gdLst/>
              <a:ahLst/>
              <a:cxnLst/>
              <a:rect r="r" b="b" t="t" l="l"/>
              <a:pathLst>
                <a:path h="4816592" w="2124055">
                  <a:moveTo>
                    <a:pt x="0" y="0"/>
                  </a:moveTo>
                  <a:lnTo>
                    <a:pt x="2124055" y="0"/>
                  </a:lnTo>
                  <a:lnTo>
                    <a:pt x="2124055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true">
              <a:gsLst>
                <a:gs pos="0">
                  <a:srgbClr val="BE95C4">
                    <a:alpha val="100000"/>
                  </a:srgbClr>
                </a:gs>
                <a:gs pos="100000">
                  <a:srgbClr val="BE95C4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124055" cy="48832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642698" y="541534"/>
            <a:ext cx="13002604" cy="109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12"/>
              </a:lnSpc>
            </a:pPr>
            <a:r>
              <a:rPr lang="en-US" b="true" sz="8069">
                <a:solidFill>
                  <a:srgbClr val="00000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DATASET ACQUI</a:t>
            </a:r>
            <a:r>
              <a:rPr lang="en-US" b="true" sz="8069">
                <a:solidFill>
                  <a:srgbClr val="00000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SITION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424030"/>
            <a:ext cx="11473961" cy="4041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6"/>
              </a:lnSpc>
              <a:spcBef>
                <a:spcPct val="0"/>
              </a:spcBef>
            </a:pPr>
            <a:r>
              <a:rPr lang="en-US" b="true" sz="289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• Preprocessing Steps:</a:t>
            </a:r>
          </a:p>
          <a:p>
            <a:pPr algn="l" marL="623967" indent="-311983" lvl="1">
              <a:lnSpc>
                <a:spcPts val="404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9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Missing values: Mode (categorical) &amp; Median (numeric) from train only</a:t>
            </a:r>
          </a:p>
          <a:p>
            <a:pPr algn="l" marL="623967" indent="-311983" lvl="1">
              <a:lnSpc>
                <a:spcPts val="404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9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Categorical: Label Encoding (Gender, Married, etc.)</a:t>
            </a:r>
          </a:p>
          <a:p>
            <a:pPr algn="l" marL="623967" indent="-311983" lvl="1">
              <a:lnSpc>
                <a:spcPts val="404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9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Numeric: Standard Scaling</a:t>
            </a:r>
          </a:p>
          <a:p>
            <a:pPr algn="l" marL="623967" indent="-311983" lvl="1">
              <a:lnSpc>
                <a:spcPts val="404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9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Engineering: Total_Income + LoanIncomeRatio</a:t>
            </a:r>
          </a:p>
          <a:p>
            <a:pPr algn="l" marL="623967" indent="-311983" lvl="1">
              <a:lnSpc>
                <a:spcPts val="404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9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Challenges &amp; Solutions: NaN handling &amp; encoding leakage avoided using train statistics only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5111614" y="2214348"/>
            <a:ext cx="8064772" cy="18288000"/>
            <a:chOff x="0" y="0"/>
            <a:chExt cx="2124055" cy="4816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24055" cy="4816592"/>
            </a:xfrm>
            <a:custGeom>
              <a:avLst/>
              <a:gdLst/>
              <a:ahLst/>
              <a:cxnLst/>
              <a:rect r="r" b="b" t="t" l="l"/>
              <a:pathLst>
                <a:path h="4816592" w="2124055">
                  <a:moveTo>
                    <a:pt x="0" y="0"/>
                  </a:moveTo>
                  <a:lnTo>
                    <a:pt x="2124055" y="0"/>
                  </a:lnTo>
                  <a:lnTo>
                    <a:pt x="2124055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true">
              <a:gsLst>
                <a:gs pos="0">
                  <a:srgbClr val="BE95C4">
                    <a:alpha val="100000"/>
                  </a:srgbClr>
                </a:gs>
                <a:gs pos="100000">
                  <a:srgbClr val="BE95C4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124055" cy="48832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642698" y="541534"/>
            <a:ext cx="13002604" cy="109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12"/>
              </a:lnSpc>
            </a:pPr>
            <a:r>
              <a:rPr lang="en-US" b="true" sz="8069">
                <a:solidFill>
                  <a:srgbClr val="00000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DATASET ACQUI</a:t>
            </a:r>
            <a:r>
              <a:rPr lang="en-US" b="true" sz="8069">
                <a:solidFill>
                  <a:srgbClr val="00000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SITION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424030"/>
            <a:ext cx="11473961" cy="4041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6"/>
              </a:lnSpc>
              <a:spcBef>
                <a:spcPct val="0"/>
              </a:spcBef>
            </a:pPr>
            <a:r>
              <a:rPr lang="en-US" b="true" sz="289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• Preprocessing Steps:</a:t>
            </a:r>
          </a:p>
          <a:p>
            <a:pPr algn="l" marL="623967" indent="-311983" lvl="1">
              <a:lnSpc>
                <a:spcPts val="404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9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Missing values: Mode (categorical) &amp; Median (numeric) from train only</a:t>
            </a:r>
          </a:p>
          <a:p>
            <a:pPr algn="l" marL="623967" indent="-311983" lvl="1">
              <a:lnSpc>
                <a:spcPts val="404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9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Categorical: Label Encoding (Gender, Married, etc.)</a:t>
            </a:r>
          </a:p>
          <a:p>
            <a:pPr algn="l" marL="623967" indent="-311983" lvl="1">
              <a:lnSpc>
                <a:spcPts val="404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9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Numeric: Standard Scaling</a:t>
            </a:r>
          </a:p>
          <a:p>
            <a:pPr algn="l" marL="623967" indent="-311983" lvl="1">
              <a:lnSpc>
                <a:spcPts val="404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9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Engineering: Total_Income + LoanIncomeRatio</a:t>
            </a:r>
          </a:p>
          <a:p>
            <a:pPr algn="l" marL="623967" indent="-311983" lvl="1">
              <a:lnSpc>
                <a:spcPts val="404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9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Challenges &amp; Solutions: NaN handling &amp; encoding leakage avoided using train statistics only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7236948"/>
            <a:ext cx="16230600" cy="1508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Challenges &amp; Solutions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Challenge: Risk of data leakage → Solved by fitting encoders/scaler only on training data</a:t>
            </a:r>
          </a:p>
          <a:p>
            <a:pPr algn="l">
              <a:lnSpc>
                <a:spcPts val="4045"/>
              </a:lnSpc>
              <a:spcBef>
                <a:spcPct val="0"/>
              </a:spcBef>
            </a:pPr>
            <a:r>
              <a:rPr lang="en-US" sz="28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Challenge: Imbalanced target (68.7% approved) → Handled with stratified split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5111614" y="-8115270"/>
            <a:ext cx="8064772" cy="18288000"/>
            <a:chOff x="0" y="0"/>
            <a:chExt cx="2124055" cy="4816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24055" cy="4816592"/>
            </a:xfrm>
            <a:custGeom>
              <a:avLst/>
              <a:gdLst/>
              <a:ahLst/>
              <a:cxnLst/>
              <a:rect r="r" b="b" t="t" l="l"/>
              <a:pathLst>
                <a:path h="4816592" w="2124055">
                  <a:moveTo>
                    <a:pt x="0" y="0"/>
                  </a:moveTo>
                  <a:lnTo>
                    <a:pt x="2124055" y="0"/>
                  </a:lnTo>
                  <a:lnTo>
                    <a:pt x="2124055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true">
              <a:gsLst>
                <a:gs pos="0">
                  <a:srgbClr val="BE95C4">
                    <a:alpha val="100000"/>
                  </a:srgbClr>
                </a:gs>
                <a:gs pos="100000">
                  <a:srgbClr val="BE95C4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124055" cy="48832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03208" y="6147417"/>
            <a:ext cx="6279836" cy="4139583"/>
          </a:xfrm>
          <a:custGeom>
            <a:avLst/>
            <a:gdLst/>
            <a:ahLst/>
            <a:cxnLst/>
            <a:rect r="r" b="b" t="t" l="l"/>
            <a:pathLst>
              <a:path h="4139583" w="6279836">
                <a:moveTo>
                  <a:pt x="0" y="0"/>
                </a:moveTo>
                <a:lnTo>
                  <a:pt x="6279836" y="0"/>
                </a:lnTo>
                <a:lnTo>
                  <a:pt x="6279836" y="4139583"/>
                </a:lnTo>
                <a:lnTo>
                  <a:pt x="0" y="41395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364177" y="1639691"/>
            <a:ext cx="6061724" cy="4480705"/>
          </a:xfrm>
          <a:custGeom>
            <a:avLst/>
            <a:gdLst/>
            <a:ahLst/>
            <a:cxnLst/>
            <a:rect r="r" b="b" t="t" l="l"/>
            <a:pathLst>
              <a:path h="4480705" w="6061724">
                <a:moveTo>
                  <a:pt x="0" y="0"/>
                </a:moveTo>
                <a:lnTo>
                  <a:pt x="6061723" y="0"/>
                </a:lnTo>
                <a:lnTo>
                  <a:pt x="6061723" y="4480704"/>
                </a:lnTo>
                <a:lnTo>
                  <a:pt x="0" y="4480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17595" y="2037859"/>
            <a:ext cx="8209705" cy="4069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6466" indent="-353233" lvl="1">
              <a:lnSpc>
                <a:spcPts val="458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272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</a:t>
            </a:r>
            <a:r>
              <a:rPr lang="en-US" b="true" sz="3272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arget distribution: 68.7% approved</a:t>
            </a:r>
          </a:p>
          <a:p>
            <a:pPr algn="l" marL="706466" indent="-353233" lvl="1">
              <a:lnSpc>
                <a:spcPts val="458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272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Missing values handled</a:t>
            </a:r>
          </a:p>
          <a:p>
            <a:pPr algn="l" marL="706466" indent="-353233" lvl="1">
              <a:lnSpc>
                <a:spcPts val="458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272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Key visualizations:</a:t>
            </a:r>
          </a:p>
          <a:p>
            <a:pPr algn="l" marL="1412932" indent="-470977" lvl="2">
              <a:lnSpc>
                <a:spcPts val="4581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3272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Approval Rate</a:t>
            </a:r>
          </a:p>
          <a:p>
            <a:pPr algn="l" marL="1412932" indent="-470977" lvl="2">
              <a:lnSpc>
                <a:spcPts val="4581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3272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Approval by Gender</a:t>
            </a:r>
          </a:p>
          <a:p>
            <a:pPr algn="l" marL="1412932" indent="-470977" lvl="2">
              <a:lnSpc>
                <a:spcPts val="4581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3272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Income vs Approval</a:t>
            </a:r>
          </a:p>
          <a:p>
            <a:pPr algn="l" marL="1412932" indent="-470977" lvl="2">
              <a:lnSpc>
                <a:spcPts val="4581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3272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Correlation Heatmap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8520188" y="6147417"/>
            <a:ext cx="5687977" cy="4139583"/>
          </a:xfrm>
          <a:custGeom>
            <a:avLst/>
            <a:gdLst/>
            <a:ahLst/>
            <a:cxnLst/>
            <a:rect r="r" b="b" t="t" l="l"/>
            <a:pathLst>
              <a:path h="4139583" w="5687977">
                <a:moveTo>
                  <a:pt x="0" y="0"/>
                </a:moveTo>
                <a:lnTo>
                  <a:pt x="5687977" y="0"/>
                </a:lnTo>
                <a:lnTo>
                  <a:pt x="5687977" y="4139583"/>
                </a:lnTo>
                <a:lnTo>
                  <a:pt x="0" y="41395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541534"/>
            <a:ext cx="16397200" cy="109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12"/>
              </a:lnSpc>
            </a:pPr>
            <a:r>
              <a:rPr lang="en-US" b="true" sz="8069">
                <a:solidFill>
                  <a:srgbClr val="00000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EXPL</a:t>
            </a:r>
            <a:r>
              <a:rPr lang="en-US" b="true" sz="8069">
                <a:solidFill>
                  <a:srgbClr val="00000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ORATORY DATA ANALYSIS (EDA)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5111614" y="-8115270"/>
            <a:ext cx="8064772" cy="18288000"/>
            <a:chOff x="0" y="0"/>
            <a:chExt cx="2124055" cy="4816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24055" cy="4816592"/>
            </a:xfrm>
            <a:custGeom>
              <a:avLst/>
              <a:gdLst/>
              <a:ahLst/>
              <a:cxnLst/>
              <a:rect r="r" b="b" t="t" l="l"/>
              <a:pathLst>
                <a:path h="4816592" w="2124055">
                  <a:moveTo>
                    <a:pt x="0" y="0"/>
                  </a:moveTo>
                  <a:lnTo>
                    <a:pt x="2124055" y="0"/>
                  </a:lnTo>
                  <a:lnTo>
                    <a:pt x="2124055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true">
              <a:gsLst>
                <a:gs pos="0">
                  <a:srgbClr val="BE95C4">
                    <a:alpha val="100000"/>
                  </a:srgbClr>
                </a:gs>
                <a:gs pos="100000">
                  <a:srgbClr val="BE95C4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124055" cy="48832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8948798"/>
            <a:ext cx="18288000" cy="3086100"/>
            <a:chOff x="0" y="0"/>
            <a:chExt cx="4816593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812800"/>
            </a:xfrm>
            <a:custGeom>
              <a:avLst/>
              <a:gdLst/>
              <a:ahLst/>
              <a:cxnLst/>
              <a:rect r="r" b="b" t="t" l="l"/>
              <a:pathLst>
                <a:path h="812800" w="4816592">
                  <a:moveTo>
                    <a:pt x="42333" y="0"/>
                  </a:moveTo>
                  <a:lnTo>
                    <a:pt x="4774259" y="0"/>
                  </a:lnTo>
                  <a:cubicBezTo>
                    <a:pt x="4785487" y="0"/>
                    <a:pt x="4796254" y="4460"/>
                    <a:pt x="4804193" y="12399"/>
                  </a:cubicBezTo>
                  <a:cubicBezTo>
                    <a:pt x="4812132" y="20338"/>
                    <a:pt x="4816592" y="31106"/>
                    <a:pt x="4816592" y="42333"/>
                  </a:cubicBezTo>
                  <a:lnTo>
                    <a:pt x="4816592" y="770467"/>
                  </a:lnTo>
                  <a:cubicBezTo>
                    <a:pt x="4816592" y="781694"/>
                    <a:pt x="4812132" y="792462"/>
                    <a:pt x="4804193" y="800401"/>
                  </a:cubicBezTo>
                  <a:cubicBezTo>
                    <a:pt x="4796254" y="808340"/>
                    <a:pt x="4785487" y="812800"/>
                    <a:pt x="4774259" y="812800"/>
                  </a:cubicBezTo>
                  <a:lnTo>
                    <a:pt x="42333" y="812800"/>
                  </a:lnTo>
                  <a:cubicBezTo>
                    <a:pt x="31106" y="812800"/>
                    <a:pt x="20338" y="808340"/>
                    <a:pt x="12399" y="800401"/>
                  </a:cubicBezTo>
                  <a:cubicBezTo>
                    <a:pt x="4460" y="792462"/>
                    <a:pt x="0" y="781694"/>
                    <a:pt x="0" y="770467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86C0">
                    <a:alpha val="100000"/>
                  </a:srgbClr>
                </a:gs>
                <a:gs pos="100000">
                  <a:srgbClr val="395E9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4816593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892576" y="311222"/>
            <a:ext cx="8502848" cy="109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12"/>
              </a:lnSpc>
            </a:pPr>
            <a:r>
              <a:rPr lang="en-US" b="true" sz="8069">
                <a:solidFill>
                  <a:srgbClr val="00000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PREDICTIV</a:t>
            </a:r>
            <a:r>
              <a:rPr lang="en-US" b="true" sz="8069">
                <a:solidFill>
                  <a:srgbClr val="00000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E MODEL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35285" y="1493424"/>
            <a:ext cx="17617431" cy="8003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3299" indent="-351649" lvl="1">
              <a:lnSpc>
                <a:spcPts val="456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257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</a:t>
            </a:r>
            <a:r>
              <a:rPr lang="en-US" b="true" sz="3257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del Chosen: XGBoost Classifier (Ensemble Method)</a:t>
            </a:r>
          </a:p>
          <a:p>
            <a:pPr algn="l" marL="703299" indent="-351649" lvl="1">
              <a:lnSpc>
                <a:spcPts val="456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257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Feature Engineering:</a:t>
            </a:r>
          </a:p>
          <a:p>
            <a:pPr algn="l" marL="1406597" indent="-468866" lvl="2">
              <a:lnSpc>
                <a:spcPts val="4560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3257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Total_Income</a:t>
            </a:r>
          </a:p>
          <a:p>
            <a:pPr algn="l" marL="1406597" indent="-468866" lvl="2">
              <a:lnSpc>
                <a:spcPts val="4560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3257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LoanIncomeRatio</a:t>
            </a:r>
          </a:p>
          <a:p>
            <a:pPr algn="l" marL="703299" indent="-351649" lvl="1">
              <a:lnSpc>
                <a:spcPts val="456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257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Validation Results:</a:t>
            </a:r>
          </a:p>
          <a:p>
            <a:pPr algn="l" marL="1406597" indent="-468866" lvl="2">
              <a:lnSpc>
                <a:spcPts val="4560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3257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ROC-AUC: 0.7854</a:t>
            </a:r>
          </a:p>
          <a:p>
            <a:pPr algn="l" marL="1406597" indent="-468866" lvl="2">
              <a:lnSpc>
                <a:spcPts val="4560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3257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Accuracy: 0.7724</a:t>
            </a:r>
          </a:p>
          <a:p>
            <a:pPr algn="l" marL="703299" indent="-351649" lvl="1">
              <a:lnSpc>
                <a:spcPts val="456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257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 Packaging &amp; Deployment:</a:t>
            </a:r>
          </a:p>
          <a:p>
            <a:pPr algn="l" marL="1406597" indent="-468866" lvl="2">
              <a:lnSpc>
                <a:spcPts val="4560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3257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Saved using joblib: model, scaler, label encoders</a:t>
            </a:r>
          </a:p>
          <a:p>
            <a:pPr algn="l" marL="1406597" indent="-468866" lvl="2">
              <a:lnSpc>
                <a:spcPts val="4560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3257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Standalone scoring_script.py (predict_loan function) ready for production– takes new application and returns approval probability</a:t>
            </a:r>
          </a:p>
          <a:p>
            <a:pPr algn="l" marL="703299" indent="-351649" lvl="1">
              <a:lnSpc>
                <a:spcPts val="456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257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XGBoost is chosen because it is a strong ensemble method and satisfies the project requirement.</a:t>
            </a:r>
          </a:p>
          <a:p>
            <a:pPr algn="l">
              <a:lnSpc>
                <a:spcPts val="45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5111614" y="1583728"/>
            <a:ext cx="8064772" cy="18288000"/>
            <a:chOff x="0" y="0"/>
            <a:chExt cx="2124055" cy="4816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24055" cy="4816592"/>
            </a:xfrm>
            <a:custGeom>
              <a:avLst/>
              <a:gdLst/>
              <a:ahLst/>
              <a:cxnLst/>
              <a:rect r="r" b="b" t="t" l="l"/>
              <a:pathLst>
                <a:path h="4816592" w="2124055">
                  <a:moveTo>
                    <a:pt x="0" y="0"/>
                  </a:moveTo>
                  <a:lnTo>
                    <a:pt x="2124055" y="0"/>
                  </a:lnTo>
                  <a:lnTo>
                    <a:pt x="2124055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true">
              <a:gsLst>
                <a:gs pos="0">
                  <a:srgbClr val="BE95C4">
                    <a:alpha val="100000"/>
                  </a:srgbClr>
                </a:gs>
                <a:gs pos="100000">
                  <a:srgbClr val="BE95C4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124055" cy="48832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58288" y="1594043"/>
            <a:ext cx="15802991" cy="7398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11471" indent="-455735" lvl="1">
              <a:lnSpc>
                <a:spcPts val="591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4221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SH</a:t>
            </a:r>
            <a:r>
              <a:rPr lang="en-US" b="true" sz="4221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AP Summary Plot</a:t>
            </a:r>
          </a:p>
          <a:p>
            <a:pPr algn="l" marL="911471" indent="-455735" lvl="1">
              <a:lnSpc>
                <a:spcPts val="591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4221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Top predictors:</a:t>
            </a:r>
          </a:p>
          <a:p>
            <a:pPr algn="l" marL="1822942" indent="-607647" lvl="2">
              <a:lnSpc>
                <a:spcPts val="5910"/>
              </a:lnSpc>
              <a:spcBef>
                <a:spcPct val="0"/>
              </a:spcBef>
              <a:buAutoNum type="alphaLcPeriod" startAt="1"/>
            </a:pPr>
            <a:r>
              <a:rPr lang="en-US" b="true" sz="4221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Credit_History</a:t>
            </a:r>
          </a:p>
          <a:p>
            <a:pPr algn="l" marL="1822942" indent="-607647" lvl="2">
              <a:lnSpc>
                <a:spcPts val="5910"/>
              </a:lnSpc>
              <a:spcBef>
                <a:spcPct val="0"/>
              </a:spcBef>
              <a:buAutoNum type="alphaLcPeriod" startAt="1"/>
            </a:pPr>
            <a:r>
              <a:rPr lang="en-US" b="true" sz="4221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ApplicantIncome</a:t>
            </a:r>
          </a:p>
          <a:p>
            <a:pPr algn="l" marL="1822942" indent="-607647" lvl="2">
              <a:lnSpc>
                <a:spcPts val="5910"/>
              </a:lnSpc>
              <a:spcBef>
                <a:spcPct val="0"/>
              </a:spcBef>
              <a:buAutoNum type="alphaLcPeriod" startAt="1"/>
            </a:pPr>
            <a:r>
              <a:rPr lang="en-US" b="true" sz="4221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LoanAmount</a:t>
            </a:r>
          </a:p>
          <a:p>
            <a:pPr algn="l" marL="911471" indent="-455735" lvl="1">
              <a:lnSpc>
                <a:spcPts val="591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4221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How to read SHAP:</a:t>
            </a:r>
          </a:p>
          <a:p>
            <a:pPr algn="l" marL="911471" indent="-455735" lvl="1">
              <a:lnSpc>
                <a:spcPts val="591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4221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Positive SHAP → increases approval probability</a:t>
            </a:r>
          </a:p>
          <a:p>
            <a:pPr algn="l" marL="911471" indent="-455735" lvl="1">
              <a:lnSpc>
                <a:spcPts val="591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4221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Negative SHAP → decreases approval probability</a:t>
            </a:r>
          </a:p>
          <a:p>
            <a:pPr algn="l">
              <a:lnSpc>
                <a:spcPts val="5910"/>
              </a:lnSpc>
              <a:spcBef>
                <a:spcPct val="0"/>
              </a:spcBef>
            </a:pPr>
          </a:p>
          <a:p>
            <a:pPr algn="l">
              <a:lnSpc>
                <a:spcPts val="5910"/>
              </a:lnSpc>
              <a:spcBef>
                <a:spcPct val="0"/>
              </a:spcBef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2777155" y="1221981"/>
            <a:ext cx="5510845" cy="4831818"/>
          </a:xfrm>
          <a:custGeom>
            <a:avLst/>
            <a:gdLst/>
            <a:ahLst/>
            <a:cxnLst/>
            <a:rect r="r" b="b" t="t" l="l"/>
            <a:pathLst>
              <a:path h="4831818" w="5510845">
                <a:moveTo>
                  <a:pt x="0" y="0"/>
                </a:moveTo>
                <a:lnTo>
                  <a:pt x="5510845" y="0"/>
                </a:lnTo>
                <a:lnTo>
                  <a:pt x="5510845" y="4831818"/>
                </a:lnTo>
                <a:lnTo>
                  <a:pt x="0" y="48318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38463" y="8029863"/>
            <a:ext cx="14113052" cy="2257137"/>
          </a:xfrm>
          <a:custGeom>
            <a:avLst/>
            <a:gdLst/>
            <a:ahLst/>
            <a:cxnLst/>
            <a:rect r="r" b="b" t="t" l="l"/>
            <a:pathLst>
              <a:path h="2257137" w="14113052">
                <a:moveTo>
                  <a:pt x="0" y="0"/>
                </a:moveTo>
                <a:lnTo>
                  <a:pt x="14113052" y="0"/>
                </a:lnTo>
                <a:lnTo>
                  <a:pt x="14113052" y="2257137"/>
                </a:lnTo>
                <a:lnTo>
                  <a:pt x="0" y="22571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31826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23825"/>
            <a:ext cx="15132579" cy="109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12"/>
              </a:lnSpc>
            </a:pPr>
            <a:r>
              <a:rPr lang="en-US" b="true" sz="8069">
                <a:solidFill>
                  <a:srgbClr val="00000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MO</a:t>
            </a:r>
            <a:r>
              <a:rPr lang="en-US" b="true" sz="8069">
                <a:solidFill>
                  <a:srgbClr val="00000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DEL EXPLAINABILITY (SHAP)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5111614" y="-8115270"/>
            <a:ext cx="8064772" cy="18288000"/>
            <a:chOff x="0" y="0"/>
            <a:chExt cx="2124055" cy="4816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24055" cy="4816592"/>
            </a:xfrm>
            <a:custGeom>
              <a:avLst/>
              <a:gdLst/>
              <a:ahLst/>
              <a:cxnLst/>
              <a:rect r="r" b="b" t="t" l="l"/>
              <a:pathLst>
                <a:path h="4816592" w="2124055">
                  <a:moveTo>
                    <a:pt x="0" y="0"/>
                  </a:moveTo>
                  <a:lnTo>
                    <a:pt x="2124055" y="0"/>
                  </a:lnTo>
                  <a:lnTo>
                    <a:pt x="2124055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true">
              <a:gsLst>
                <a:gs pos="0">
                  <a:srgbClr val="BE95C4">
                    <a:alpha val="100000"/>
                  </a:srgbClr>
                </a:gs>
                <a:gs pos="100000">
                  <a:srgbClr val="BE95C4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124055" cy="48832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12094" y="2302162"/>
            <a:ext cx="17160911" cy="6100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29623" indent="-464811" lvl="1">
              <a:lnSpc>
                <a:spcPts val="602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4305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Prot</a:t>
            </a:r>
            <a:r>
              <a:rPr lang="en-US" b="true" sz="4305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ected Attribute: Gender</a:t>
            </a:r>
          </a:p>
          <a:p>
            <a:pPr algn="l" marL="929623" indent="-464811" lvl="1">
              <a:lnSpc>
                <a:spcPts val="602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4305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Fairlearn Results:</a:t>
            </a:r>
          </a:p>
          <a:p>
            <a:pPr algn="l" marL="1859246" indent="-619749" lvl="2">
              <a:lnSpc>
                <a:spcPts val="6028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4305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Demographic Parity Difference: 0.1441</a:t>
            </a:r>
          </a:p>
          <a:p>
            <a:pPr algn="l" marL="1859246" indent="-619749" lvl="2">
              <a:lnSpc>
                <a:spcPts val="6028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4305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Equalized Odds Difference: 0.0976</a:t>
            </a:r>
          </a:p>
          <a:p>
            <a:pPr algn="l" marL="929623" indent="-464811" lvl="1">
              <a:lnSpc>
                <a:spcPts val="602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4305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Conclusion: Minimal gender bias — model shows relatively low bias, but some disparity still exists (~14%)</a:t>
            </a:r>
          </a:p>
          <a:p>
            <a:pPr algn="l" marL="929623" indent="-464811" lvl="1">
              <a:lnSpc>
                <a:spcPts val="602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4305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Fairness note on dashboard</a:t>
            </a:r>
          </a:p>
          <a:p>
            <a:pPr algn="l">
              <a:lnSpc>
                <a:spcPts val="6028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612094" y="680682"/>
            <a:ext cx="12189506" cy="1335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7"/>
              </a:lnSpc>
            </a:pPr>
            <a:r>
              <a:rPr lang="en-US" b="true" sz="9783">
                <a:solidFill>
                  <a:srgbClr val="00000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BIA</a:t>
            </a:r>
            <a:r>
              <a:rPr lang="en-US" b="true" sz="9783">
                <a:solidFill>
                  <a:srgbClr val="00000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S &amp; FAIRNESS ANALYSIS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5111614" y="-8115270"/>
            <a:ext cx="8064772" cy="18288000"/>
            <a:chOff x="0" y="0"/>
            <a:chExt cx="2124055" cy="4816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24055" cy="4816592"/>
            </a:xfrm>
            <a:custGeom>
              <a:avLst/>
              <a:gdLst/>
              <a:ahLst/>
              <a:cxnLst/>
              <a:rect r="r" b="b" t="t" l="l"/>
              <a:pathLst>
                <a:path h="4816592" w="2124055">
                  <a:moveTo>
                    <a:pt x="0" y="0"/>
                  </a:moveTo>
                  <a:lnTo>
                    <a:pt x="2124055" y="0"/>
                  </a:lnTo>
                  <a:lnTo>
                    <a:pt x="2124055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true">
              <a:gsLst>
                <a:gs pos="0">
                  <a:srgbClr val="BE95C4">
                    <a:alpha val="100000"/>
                  </a:srgbClr>
                </a:gs>
                <a:gs pos="100000">
                  <a:srgbClr val="BE95C4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124055" cy="48832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1336709"/>
            <a:ext cx="7019526" cy="4527594"/>
          </a:xfrm>
          <a:custGeom>
            <a:avLst/>
            <a:gdLst/>
            <a:ahLst/>
            <a:cxnLst/>
            <a:rect r="r" b="b" t="t" l="l"/>
            <a:pathLst>
              <a:path h="4527594" w="7019526">
                <a:moveTo>
                  <a:pt x="0" y="0"/>
                </a:moveTo>
                <a:lnTo>
                  <a:pt x="7019526" y="0"/>
                </a:lnTo>
                <a:lnTo>
                  <a:pt x="7019526" y="4527595"/>
                </a:lnTo>
                <a:lnTo>
                  <a:pt x="0" y="45275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254844" y="1336709"/>
            <a:ext cx="7033156" cy="4527594"/>
          </a:xfrm>
          <a:custGeom>
            <a:avLst/>
            <a:gdLst/>
            <a:ahLst/>
            <a:cxnLst/>
            <a:rect r="r" b="b" t="t" l="l"/>
            <a:pathLst>
              <a:path h="4527594" w="7033156">
                <a:moveTo>
                  <a:pt x="0" y="0"/>
                </a:moveTo>
                <a:lnTo>
                  <a:pt x="7033156" y="0"/>
                </a:lnTo>
                <a:lnTo>
                  <a:pt x="7033156" y="4527595"/>
                </a:lnTo>
                <a:lnTo>
                  <a:pt x="0" y="45275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035471" y="5864304"/>
            <a:ext cx="6896992" cy="4422696"/>
          </a:xfrm>
          <a:custGeom>
            <a:avLst/>
            <a:gdLst/>
            <a:ahLst/>
            <a:cxnLst/>
            <a:rect r="r" b="b" t="t" l="l"/>
            <a:pathLst>
              <a:path h="4422696" w="6896992">
                <a:moveTo>
                  <a:pt x="0" y="0"/>
                </a:moveTo>
                <a:lnTo>
                  <a:pt x="6896992" y="0"/>
                </a:lnTo>
                <a:lnTo>
                  <a:pt x="6896992" y="4422696"/>
                </a:lnTo>
                <a:lnTo>
                  <a:pt x="0" y="44226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978442" y="238553"/>
            <a:ext cx="13011050" cy="109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12"/>
              </a:lnSpc>
            </a:pPr>
            <a:r>
              <a:rPr lang="en-US" b="true" sz="8069">
                <a:solidFill>
                  <a:srgbClr val="00000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POWER BI D</a:t>
            </a:r>
            <a:r>
              <a:rPr lang="en-US" b="true" sz="8069">
                <a:solidFill>
                  <a:srgbClr val="00000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ASHBOARD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019526" y="1203359"/>
            <a:ext cx="4235317" cy="405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71"/>
              </a:lnSpc>
              <a:spcBef>
                <a:spcPct val="0"/>
              </a:spcBef>
            </a:pPr>
            <a:r>
              <a:rPr lang="en-US" sz="455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Interactive features: Gender slicer + filters across all pages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5111614" y="-8115270"/>
            <a:ext cx="8064772" cy="18288000"/>
            <a:chOff x="0" y="0"/>
            <a:chExt cx="2124055" cy="4816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24055" cy="4816592"/>
            </a:xfrm>
            <a:custGeom>
              <a:avLst/>
              <a:gdLst/>
              <a:ahLst/>
              <a:cxnLst/>
              <a:rect r="r" b="b" t="t" l="l"/>
              <a:pathLst>
                <a:path h="4816592" w="2124055">
                  <a:moveTo>
                    <a:pt x="0" y="0"/>
                  </a:moveTo>
                  <a:lnTo>
                    <a:pt x="2124055" y="0"/>
                  </a:lnTo>
                  <a:lnTo>
                    <a:pt x="2124055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true">
              <a:gsLst>
                <a:gs pos="0">
                  <a:srgbClr val="BE95C4">
                    <a:alpha val="100000"/>
                  </a:srgbClr>
                </a:gs>
                <a:gs pos="100000">
                  <a:srgbClr val="BE95C4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124055" cy="48832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8948798"/>
            <a:ext cx="18288000" cy="3086100"/>
            <a:chOff x="0" y="0"/>
            <a:chExt cx="4816593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812800"/>
            </a:xfrm>
            <a:custGeom>
              <a:avLst/>
              <a:gdLst/>
              <a:ahLst/>
              <a:cxnLst/>
              <a:rect r="r" b="b" t="t" l="l"/>
              <a:pathLst>
                <a:path h="812800" w="4816592">
                  <a:moveTo>
                    <a:pt x="42333" y="0"/>
                  </a:moveTo>
                  <a:lnTo>
                    <a:pt x="4774259" y="0"/>
                  </a:lnTo>
                  <a:cubicBezTo>
                    <a:pt x="4785487" y="0"/>
                    <a:pt x="4796254" y="4460"/>
                    <a:pt x="4804193" y="12399"/>
                  </a:cubicBezTo>
                  <a:cubicBezTo>
                    <a:pt x="4812132" y="20338"/>
                    <a:pt x="4816592" y="31106"/>
                    <a:pt x="4816592" y="42333"/>
                  </a:cubicBezTo>
                  <a:lnTo>
                    <a:pt x="4816592" y="770467"/>
                  </a:lnTo>
                  <a:cubicBezTo>
                    <a:pt x="4816592" y="781694"/>
                    <a:pt x="4812132" y="792462"/>
                    <a:pt x="4804193" y="800401"/>
                  </a:cubicBezTo>
                  <a:cubicBezTo>
                    <a:pt x="4796254" y="808340"/>
                    <a:pt x="4785487" y="812800"/>
                    <a:pt x="4774259" y="812800"/>
                  </a:cubicBezTo>
                  <a:lnTo>
                    <a:pt x="42333" y="812800"/>
                  </a:lnTo>
                  <a:cubicBezTo>
                    <a:pt x="31106" y="812800"/>
                    <a:pt x="20338" y="808340"/>
                    <a:pt x="12399" y="800401"/>
                  </a:cubicBezTo>
                  <a:cubicBezTo>
                    <a:pt x="4460" y="792462"/>
                    <a:pt x="0" y="781694"/>
                    <a:pt x="0" y="770467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86C0">
                    <a:alpha val="100000"/>
                  </a:srgbClr>
                </a:gs>
                <a:gs pos="100000">
                  <a:srgbClr val="395E9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4816593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708124" y="541564"/>
            <a:ext cx="16871752" cy="109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12"/>
              </a:lnSpc>
            </a:pPr>
            <a:r>
              <a:rPr lang="en-US" b="true" sz="8069">
                <a:solidFill>
                  <a:srgbClr val="00000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CONCLUSION &amp;</a:t>
            </a:r>
            <a:r>
              <a:rPr lang="en-US" b="true" sz="8069">
                <a:solidFill>
                  <a:srgbClr val="00000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 KEY TAKEAWAYS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14350" y="2722709"/>
            <a:ext cx="17259300" cy="5009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15190" indent="-507595" lvl="1">
              <a:lnSpc>
                <a:spcPts val="658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4702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Succ</a:t>
            </a:r>
            <a:r>
              <a:rPr lang="en-US" b="true" sz="4702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essfully built an end-to-end loan approval pipeline</a:t>
            </a:r>
          </a:p>
          <a:p>
            <a:pPr algn="l" marL="1015190" indent="-507595" lvl="1">
              <a:lnSpc>
                <a:spcPts val="658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4702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 is accurate, explainable, and fair</a:t>
            </a:r>
          </a:p>
          <a:p>
            <a:pPr algn="l" marL="1015190" indent="-507595" lvl="1">
              <a:lnSpc>
                <a:spcPts val="658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4702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Dashboard provides clear insights for stakeholders</a:t>
            </a:r>
          </a:p>
          <a:p>
            <a:pPr algn="l" marL="1015190" indent="-507595" lvl="1">
              <a:lnSpc>
                <a:spcPts val="658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4702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Ready for deployment with scoring script</a:t>
            </a:r>
          </a:p>
          <a:p>
            <a:pPr algn="l">
              <a:lnSpc>
                <a:spcPts val="658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793142" y="4532557"/>
            <a:ext cx="4723730" cy="2508464"/>
          </a:xfrm>
          <a:custGeom>
            <a:avLst/>
            <a:gdLst/>
            <a:ahLst/>
            <a:cxnLst/>
            <a:rect r="r" b="b" t="t" l="l"/>
            <a:pathLst>
              <a:path h="2508464" w="4723730">
                <a:moveTo>
                  <a:pt x="0" y="0"/>
                </a:moveTo>
                <a:lnTo>
                  <a:pt x="4723730" y="0"/>
                </a:lnTo>
                <a:lnTo>
                  <a:pt x="4723730" y="2508464"/>
                </a:lnTo>
                <a:lnTo>
                  <a:pt x="0" y="25084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1461492" y="1841568"/>
            <a:ext cx="3328952" cy="3284337"/>
          </a:xfrm>
          <a:custGeom>
            <a:avLst/>
            <a:gdLst/>
            <a:ahLst/>
            <a:cxnLst/>
            <a:rect r="r" b="b" t="t" l="l"/>
            <a:pathLst>
              <a:path h="3284337" w="3328952">
                <a:moveTo>
                  <a:pt x="3328952" y="0"/>
                </a:moveTo>
                <a:lnTo>
                  <a:pt x="0" y="0"/>
                </a:lnTo>
                <a:lnTo>
                  <a:pt x="0" y="3284337"/>
                </a:lnTo>
                <a:lnTo>
                  <a:pt x="3328952" y="3284337"/>
                </a:lnTo>
                <a:lnTo>
                  <a:pt x="332895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812214" y="538502"/>
            <a:ext cx="4208894" cy="9991440"/>
          </a:xfrm>
          <a:custGeom>
            <a:avLst/>
            <a:gdLst/>
            <a:ahLst/>
            <a:cxnLst/>
            <a:rect r="r" b="b" t="t" l="l"/>
            <a:pathLst>
              <a:path h="9991440" w="4208894">
                <a:moveTo>
                  <a:pt x="0" y="0"/>
                </a:moveTo>
                <a:lnTo>
                  <a:pt x="4208894" y="0"/>
                </a:lnTo>
                <a:lnTo>
                  <a:pt x="4208894" y="9991440"/>
                </a:lnTo>
                <a:lnTo>
                  <a:pt x="0" y="99914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982033">
            <a:off x="15475103" y="2609007"/>
            <a:ext cx="2518720" cy="2450112"/>
          </a:xfrm>
          <a:custGeom>
            <a:avLst/>
            <a:gdLst/>
            <a:ahLst/>
            <a:cxnLst/>
            <a:rect r="r" b="b" t="t" l="l"/>
            <a:pathLst>
              <a:path h="2450112" w="2518720">
                <a:moveTo>
                  <a:pt x="0" y="0"/>
                </a:moveTo>
                <a:lnTo>
                  <a:pt x="2518720" y="0"/>
                </a:lnTo>
                <a:lnTo>
                  <a:pt x="2518720" y="2450112"/>
                </a:lnTo>
                <a:lnTo>
                  <a:pt x="0" y="245011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3698949" y="-165883"/>
            <a:ext cx="8064772" cy="10618766"/>
            <a:chOff x="0" y="0"/>
            <a:chExt cx="2124055" cy="27967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24055" cy="2796712"/>
            </a:xfrm>
            <a:custGeom>
              <a:avLst/>
              <a:gdLst/>
              <a:ahLst/>
              <a:cxnLst/>
              <a:rect r="r" b="b" t="t" l="l"/>
              <a:pathLst>
                <a:path h="2796712" w="2124055">
                  <a:moveTo>
                    <a:pt x="0" y="0"/>
                  </a:moveTo>
                  <a:lnTo>
                    <a:pt x="2124055" y="0"/>
                  </a:lnTo>
                  <a:lnTo>
                    <a:pt x="2124055" y="2796712"/>
                  </a:lnTo>
                  <a:lnTo>
                    <a:pt x="0" y="2796712"/>
                  </a:lnTo>
                  <a:close/>
                </a:path>
              </a:pathLst>
            </a:custGeom>
            <a:gradFill rotWithShape="true">
              <a:gsLst>
                <a:gs pos="0">
                  <a:srgbClr val="BE95C4">
                    <a:alpha val="100000"/>
                  </a:srgbClr>
                </a:gs>
                <a:gs pos="100000">
                  <a:srgbClr val="BE95C4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2124055" cy="28633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1737074">
            <a:off x="16442411" y="293181"/>
            <a:ext cx="1518076" cy="1188189"/>
          </a:xfrm>
          <a:custGeom>
            <a:avLst/>
            <a:gdLst/>
            <a:ahLst/>
            <a:cxnLst/>
            <a:rect r="r" b="b" t="t" l="l"/>
            <a:pathLst>
              <a:path h="1188189" w="1518076">
                <a:moveTo>
                  <a:pt x="0" y="0"/>
                </a:moveTo>
                <a:lnTo>
                  <a:pt x="1518075" y="0"/>
                </a:lnTo>
                <a:lnTo>
                  <a:pt x="1518075" y="1188189"/>
                </a:lnTo>
                <a:lnTo>
                  <a:pt x="0" y="118818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1607151"/>
            <a:ext cx="9694438" cy="2288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7156"/>
              </a:lnSpc>
            </a:pPr>
            <a:r>
              <a:rPr lang="en-US" b="true" sz="16986">
                <a:solidFill>
                  <a:srgbClr val="28284C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THANK YOU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33437" y="6750050"/>
            <a:ext cx="17819774" cy="283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 i="true">
                <a:solidFill>
                  <a:srgbClr val="000000"/>
                </a:solidFill>
                <a:latin typeface="Poppins Medium Italics"/>
                <a:ea typeface="Poppins Medium Italics"/>
                <a:cs typeface="Poppins Medium Italics"/>
                <a:sym typeface="Poppins Medium Italics"/>
              </a:rPr>
              <a:t>Full code, model, and .pbix file available on GitHub.</a:t>
            </a:r>
          </a:p>
          <a:p>
            <a:pPr algn="ctr">
              <a:lnSpc>
                <a:spcPts val="5599"/>
              </a:lnSpc>
            </a:pPr>
            <a:r>
              <a:rPr lang="en-US" b="true" sz="3999" i="true">
                <a:solidFill>
                  <a:srgbClr val="000000"/>
                </a:solidFill>
                <a:latin typeface="Poppins Medium Italics"/>
                <a:ea typeface="Poppins Medium Italics"/>
                <a:cs typeface="Poppins Medium Italics"/>
                <a:sym typeface="Poppins Medium Italics"/>
              </a:rPr>
              <a:t>G</a:t>
            </a:r>
            <a:r>
              <a:rPr lang="en-US" b="true" sz="3999" i="true">
                <a:solidFill>
                  <a:srgbClr val="000000"/>
                </a:solidFill>
                <a:latin typeface="Poppins Medium Italics"/>
                <a:ea typeface="Poppins Medium Italics"/>
                <a:cs typeface="Poppins Medium Italics"/>
                <a:sym typeface="Poppins Medium Italics"/>
              </a:rPr>
              <a:t>itHub Repository: </a:t>
            </a:r>
          </a:p>
          <a:p>
            <a:pPr algn="ctr">
              <a:lnSpc>
                <a:spcPts val="5599"/>
              </a:lnSpc>
            </a:pPr>
            <a:r>
              <a:rPr lang="en-US" b="true" sz="3999" i="true">
                <a:solidFill>
                  <a:srgbClr val="000000"/>
                </a:solidFill>
                <a:latin typeface="Poppins Medium Italics"/>
                <a:ea typeface="Poppins Medium Italics"/>
                <a:cs typeface="Poppins Medium Italics"/>
                <a:sym typeface="Poppins Medium Italics"/>
              </a:rPr>
              <a:t>https://github.com/rasha-2712/DSAI4103-Loan-Approval-Pipeline</a:t>
            </a:r>
          </a:p>
          <a:p>
            <a:pPr algn="ctr">
              <a:lnSpc>
                <a:spcPts val="5599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3427562" y="4038664"/>
            <a:ext cx="4896715" cy="1130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455"/>
              </a:lnSpc>
            </a:pPr>
            <a:r>
              <a:rPr lang="en-US" b="true" sz="8372">
                <a:solidFill>
                  <a:srgbClr val="28284C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DAHFMZ42gHs</dc:identifier>
  <dcterms:modified xsi:type="dcterms:W3CDTF">2011-08-01T06:04:30Z</dcterms:modified>
  <cp:revision>1</cp:revision>
  <dc:title>Loan Approval Prediction with Fairness Analysis</dc:title>
</cp:coreProperties>
</file>